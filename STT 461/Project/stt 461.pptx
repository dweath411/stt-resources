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Average"/>
      <p:regular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swald-regular.fntdata"/><Relationship Id="rId23" Type="http://schemas.openxmlformats.org/officeDocument/2006/relationships/font" Target="fonts/Averag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3e205200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3e205200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GINI index data set contained values from 1967 to 2021 for 165 separate countries. The GINI index is a measure of income inequality on a 0-1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The coordinate data set contained latitude, longitude, country, and country code information.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t>The World Happiness Report data was contained in 8 year separated datasets from 2015-2022 for 157 countries. The Happiness index is a quality of life measure calculated from a number of other variables.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wanted to predict happiness and gini index values for countries past present and future</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3e2052009c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3e2052009c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Found and matched inconsistent country names between the 3 data 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Added year columns to each of the individual happiness datasets, removed unwanted and inconsistent features (world region, ladder score, dystopia, residuals, country code, etc.), renamed and repositioned desired variables.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used rbind to join all of the happiness data, then matched names between the happiness and gini data sets, and removed countries that were not in both sets. Used SQL to join the happiness data, gini index data, and coordinate data on country name and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end result was a singular data set containing country names, gini value, happiness score, gdp, social support, life expectancy, freedom, generosity, trust, latitude, and longitude for the years of 2015-2021. From here, the quality of the remaining features was checked. Trust was converted to double and the single NA value was imputed with the mean trust value.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3e418f0c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3e418f0c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show our new dataset we made a few graphs to visualize the data and what we will be comparing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is life expectancy, taken as an average for each year we have available data and we have a bar plot showing the ten countries with the highest life expectancy</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Then we have the happiness score from the world happiness index</a:t>
            </a:r>
            <a:r>
              <a:rPr lang="en"/>
              <a:t>. W</a:t>
            </a:r>
            <a:r>
              <a:rPr lang="en"/>
              <a:t>e used pre-covid data from 2019 to show the top 10 countries with the highest happiness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can compare year-by-year, so we have a line graph showing happiness in the United States by comparing the score for each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thing our new dataset shows is data that may affect the happiness score, so here we’re showing the countries with the highest levels of support through the years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3e2052009c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3e2052009c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Response variable is “score”. When building models, hold off on using country/country_code until the heatmap.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3e205200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3e2052009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one NA value in trust, we imputed it with the median. Created histograms for response frequencies. Made correlation plot.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3e2052009c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3e2052009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most correlated with score are life_expectancy, support, freedom, longitude.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3e2052009c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3e2052009c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Distribution for score values are pretty normally distributed. This means we will not be applying a log distribution.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3e2052009c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3e2052009c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Support is the 2nd most correlated, but has the best line of best fit. Longitude has a weak negative correlation with score, so that could explain its shape. Also, longitude is not a linear factor. Life expectancy makes sense, it seems as if the higher the life expectancy, the better the happiness index. </a:t>
            </a:r>
            <a:r>
              <a:rPr lang="en"/>
              <a:t>This could be due to a multitude of factors.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3e2052009c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3e2052009c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 4 </a:t>
            </a:r>
            <a:r>
              <a:rPr lang="en"/>
              <a:t>different</a:t>
            </a:r>
            <a:r>
              <a:rPr lang="en"/>
              <a:t> linear models, 3 linear models. One with all factors and no </a:t>
            </a:r>
            <a:r>
              <a:rPr lang="en"/>
              <a:t>transformations</a:t>
            </a:r>
            <a:r>
              <a:rPr lang="en"/>
              <a:t>, one with only significant factors included, and one with the significant factors included, along with a log transformation on the response. The 4th model is a forward stepwise model (BIC criterion), which produced the same values as linear model 1. Mention I did </a:t>
            </a:r>
            <a:r>
              <a:rPr lang="en"/>
              <a:t>lasso Regression. Produced similar results to lm2</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3e2052009c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3e2052009c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According to the decision tree, it looks like gdp has the most importance when determining happiness score. This also makes sense when looking at the Random Forest importance plots, gdp is the most important when going for mse.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3e2052009c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3e2052009c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 model had the best line of fit, best predictions, and best MSE.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3e520ddb8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3e520ddb8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3e520ddb8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3e520ddb8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3e520ddb8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3e520ddb8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3e2052009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3e2052009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random forest model was the best overall predictor </a:t>
            </a:r>
            <a:r>
              <a:rPr lang="en"/>
              <a:t>despite</a:t>
            </a:r>
            <a:r>
              <a:rPr lang="en"/>
              <a:t> having higher variance than the other models. The baseline linear model was a close second.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Longitude, year, Support, LIfe expectancy, freedom, trust, and generosity were the best features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3e2052009c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3e2052009c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9.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21.png"/><Relationship Id="rId8"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Inequality and Happiness Prediction</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Derien Weatherspoon, Hailey Purcell, Celia Murphy</a:t>
            </a:r>
            <a:endParaRPr/>
          </a:p>
        </p:txBody>
      </p:sp>
      <p:sp>
        <p:nvSpPr>
          <p:cNvPr id="61" name="Google Shape;61;p1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a:p>
            <a:pPr indent="0" lvl="0" marL="0" rtl="0" algn="l">
              <a:spcBef>
                <a:spcPts val="0"/>
              </a:spcBef>
              <a:spcAft>
                <a:spcPts val="0"/>
              </a:spcAft>
              <a:buNone/>
            </a:pPr>
            <a:r>
              <a:t/>
            </a:r>
            <a:endParaRPr/>
          </a:p>
        </p:txBody>
      </p:sp>
      <p:sp>
        <p:nvSpPr>
          <p:cNvPr id="67" name="Google Shape;67;p14"/>
          <p:cNvSpPr txBox="1"/>
          <p:nvPr/>
        </p:nvSpPr>
        <p:spPr>
          <a:xfrm>
            <a:off x="365800" y="1330225"/>
            <a:ext cx="4206300" cy="1708500"/>
          </a:xfrm>
          <a:prstGeom prst="rect">
            <a:avLst/>
          </a:prstGeom>
          <a:noFill/>
          <a:ln>
            <a:noFill/>
          </a:ln>
        </p:spPr>
        <p:txBody>
          <a:bodyPr anchorCtr="0" anchor="t" bIns="91425" lIns="91425" spcFirstLastPara="1" rIns="91425" wrap="square" tIns="91425">
            <a:spAutoFit/>
          </a:bodyPr>
          <a:lstStyle/>
          <a:p>
            <a:pPr indent="-333375" lvl="0" marL="457200" rtl="0" algn="l">
              <a:spcBef>
                <a:spcPts val="0"/>
              </a:spcBef>
              <a:spcAft>
                <a:spcPts val="0"/>
              </a:spcAft>
              <a:buClr>
                <a:schemeClr val="lt2"/>
              </a:buClr>
              <a:buSzPts val="1650"/>
              <a:buFont typeface="Average"/>
              <a:buChar char="-"/>
            </a:pPr>
            <a:r>
              <a:rPr lang="en" sz="1650">
                <a:solidFill>
                  <a:schemeClr val="lt2"/>
                </a:solidFill>
                <a:latin typeface="Average"/>
                <a:ea typeface="Average"/>
                <a:cs typeface="Average"/>
                <a:sym typeface="Average"/>
              </a:rPr>
              <a:t>GINI index</a:t>
            </a:r>
            <a:endParaRPr sz="1650">
              <a:solidFill>
                <a:schemeClr val="lt2"/>
              </a:solidFill>
              <a:latin typeface="Average"/>
              <a:ea typeface="Average"/>
              <a:cs typeface="Average"/>
              <a:sym typeface="Average"/>
            </a:endParaRPr>
          </a:p>
          <a:p>
            <a:pPr indent="-333375" lvl="0" marL="457200" rtl="0" algn="l">
              <a:spcBef>
                <a:spcPts val="0"/>
              </a:spcBef>
              <a:spcAft>
                <a:spcPts val="0"/>
              </a:spcAft>
              <a:buClr>
                <a:schemeClr val="lt2"/>
              </a:buClr>
              <a:buSzPts val="1650"/>
              <a:buFont typeface="Average"/>
              <a:buChar char="-"/>
            </a:pPr>
            <a:r>
              <a:rPr lang="en" sz="1650">
                <a:solidFill>
                  <a:schemeClr val="lt2"/>
                </a:solidFill>
                <a:latin typeface="Average"/>
                <a:ea typeface="Average"/>
                <a:cs typeface="Average"/>
                <a:sym typeface="Average"/>
              </a:rPr>
              <a:t>The World Happiness Report</a:t>
            </a:r>
            <a:endParaRPr sz="1650">
              <a:solidFill>
                <a:schemeClr val="lt2"/>
              </a:solidFill>
              <a:latin typeface="Average"/>
              <a:ea typeface="Average"/>
              <a:cs typeface="Average"/>
              <a:sym typeface="Average"/>
            </a:endParaRPr>
          </a:p>
          <a:p>
            <a:pPr indent="-333375" lvl="0" marL="457200" rtl="0" algn="l">
              <a:spcBef>
                <a:spcPts val="0"/>
              </a:spcBef>
              <a:spcAft>
                <a:spcPts val="0"/>
              </a:spcAft>
              <a:buClr>
                <a:schemeClr val="lt2"/>
              </a:buClr>
              <a:buSzPts val="1650"/>
              <a:buFont typeface="Average"/>
              <a:buChar char="-"/>
            </a:pPr>
            <a:r>
              <a:rPr lang="en" sz="1650">
                <a:solidFill>
                  <a:schemeClr val="lt2"/>
                </a:solidFill>
                <a:latin typeface="Average"/>
                <a:ea typeface="Average"/>
                <a:cs typeface="Average"/>
                <a:sym typeface="Average"/>
              </a:rPr>
              <a:t>Country Coordinates</a:t>
            </a:r>
            <a:endParaRPr sz="1650">
              <a:solidFill>
                <a:schemeClr val="lt2"/>
              </a:solidFill>
              <a:latin typeface="Average"/>
              <a:ea typeface="Average"/>
              <a:cs typeface="Average"/>
              <a:sym typeface="Average"/>
            </a:endParaRPr>
          </a:p>
          <a:p>
            <a:pPr indent="0" lvl="0" marL="0" rtl="0" algn="l">
              <a:spcBef>
                <a:spcPts val="0"/>
              </a:spcBef>
              <a:spcAft>
                <a:spcPts val="0"/>
              </a:spcAft>
              <a:buNone/>
            </a:pPr>
            <a:r>
              <a:t/>
            </a:r>
            <a:endParaRPr sz="1650">
              <a:solidFill>
                <a:schemeClr val="lt2"/>
              </a:solidFill>
              <a:latin typeface="Average"/>
              <a:ea typeface="Average"/>
              <a:cs typeface="Average"/>
              <a:sym typeface="Average"/>
            </a:endParaRPr>
          </a:p>
          <a:p>
            <a:pPr indent="0" lvl="0" marL="0" rtl="0" algn="l">
              <a:spcBef>
                <a:spcPts val="0"/>
              </a:spcBef>
              <a:spcAft>
                <a:spcPts val="0"/>
              </a:spcAft>
              <a:buNone/>
            </a:pPr>
            <a:r>
              <a:t/>
            </a:r>
            <a:endParaRPr sz="1650">
              <a:solidFill>
                <a:schemeClr val="lt2"/>
              </a:solidFill>
              <a:latin typeface="Average"/>
              <a:ea typeface="Average"/>
              <a:cs typeface="Average"/>
              <a:sym typeface="Average"/>
            </a:endParaRPr>
          </a:p>
          <a:p>
            <a:pPr indent="0" lvl="0" marL="0" rtl="0" algn="l">
              <a:spcBef>
                <a:spcPts val="0"/>
              </a:spcBef>
              <a:spcAft>
                <a:spcPts val="0"/>
              </a:spcAft>
              <a:buNone/>
            </a:pPr>
            <a:r>
              <a:t/>
            </a:r>
            <a:endParaRPr sz="1650">
              <a:solidFill>
                <a:schemeClr val="lt2"/>
              </a:solidFill>
              <a:latin typeface="Average"/>
              <a:ea typeface="Average"/>
              <a:cs typeface="Average"/>
              <a:sym typeface="Average"/>
            </a:endParaRPr>
          </a:p>
        </p:txBody>
      </p:sp>
      <p:sp>
        <p:nvSpPr>
          <p:cNvPr id="68" name="Google Shape;68;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 name="Google Shape;69;p14"/>
          <p:cNvSpPr txBox="1"/>
          <p:nvPr/>
        </p:nvSpPr>
        <p:spPr>
          <a:xfrm>
            <a:off x="1029475" y="2768200"/>
            <a:ext cx="44088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50">
                <a:solidFill>
                  <a:schemeClr val="accent3"/>
                </a:solidFill>
                <a:latin typeface="Average"/>
                <a:ea typeface="Average"/>
                <a:cs typeface="Average"/>
                <a:sym typeface="Average"/>
              </a:rPr>
              <a:t>Predict Happiness and GINI index scores</a:t>
            </a:r>
            <a:endParaRPr sz="1650">
              <a:solidFill>
                <a:schemeClr val="accent3"/>
              </a:solidFill>
              <a:latin typeface="Average"/>
              <a:ea typeface="Average"/>
              <a:cs typeface="Average"/>
              <a:sym typeface="Average"/>
            </a:endParaRPr>
          </a:p>
          <a:p>
            <a:pPr indent="0" lvl="0" marL="0" rtl="0" algn="l">
              <a:spcBef>
                <a:spcPts val="0"/>
              </a:spcBef>
              <a:spcAft>
                <a:spcPts val="0"/>
              </a:spcAft>
              <a:buNone/>
            </a:pPr>
            <a:r>
              <a:t/>
            </a:r>
            <a:endParaRPr sz="1650">
              <a:solidFill>
                <a:schemeClr val="accent3"/>
              </a:solidFill>
              <a:latin typeface="Average"/>
              <a:ea typeface="Average"/>
              <a:cs typeface="Average"/>
              <a:sym typeface="Average"/>
            </a:endParaRPr>
          </a:p>
          <a:p>
            <a:pPr indent="0" lvl="0" marL="0" rtl="0" algn="l">
              <a:spcBef>
                <a:spcPts val="0"/>
              </a:spcBef>
              <a:spcAft>
                <a:spcPts val="0"/>
              </a:spcAft>
              <a:buNone/>
            </a:pPr>
            <a:r>
              <a:rPr lang="en" sz="1650">
                <a:solidFill>
                  <a:schemeClr val="accent3"/>
                </a:solidFill>
                <a:latin typeface="Average"/>
                <a:ea typeface="Average"/>
                <a:cs typeface="Average"/>
                <a:sym typeface="Average"/>
              </a:rPr>
              <a:t>Determine best model and features for prediction</a:t>
            </a:r>
            <a:endParaRPr sz="1650">
              <a:solidFill>
                <a:schemeClr val="accent3"/>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a:t>
            </a:r>
            <a:endParaRPr/>
          </a:p>
        </p:txBody>
      </p:sp>
      <p:sp>
        <p:nvSpPr>
          <p:cNvPr id="75" name="Google Shape;75;p15"/>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Features:</a:t>
            </a:r>
            <a:endParaRPr/>
          </a:p>
          <a:p>
            <a:pPr indent="-342900" lvl="0" marL="457200" rtl="0" algn="l">
              <a:spcBef>
                <a:spcPts val="1200"/>
              </a:spcBef>
              <a:spcAft>
                <a:spcPts val="0"/>
              </a:spcAft>
              <a:buSzPts val="1800"/>
              <a:buChar char="-"/>
            </a:pPr>
            <a:r>
              <a:rPr lang="en"/>
              <a:t>Gross Domestic Product</a:t>
            </a:r>
            <a:endParaRPr/>
          </a:p>
          <a:p>
            <a:pPr indent="-342900" lvl="0" marL="457200" rtl="0" algn="l">
              <a:spcBef>
                <a:spcPts val="0"/>
              </a:spcBef>
              <a:spcAft>
                <a:spcPts val="0"/>
              </a:spcAft>
              <a:buSzPts val="1800"/>
              <a:buChar char="-"/>
            </a:pPr>
            <a:r>
              <a:rPr lang="en"/>
              <a:t>Social Support</a:t>
            </a:r>
            <a:endParaRPr/>
          </a:p>
          <a:p>
            <a:pPr indent="-342900" lvl="0" marL="457200" rtl="0" algn="l">
              <a:spcBef>
                <a:spcPts val="0"/>
              </a:spcBef>
              <a:spcAft>
                <a:spcPts val="0"/>
              </a:spcAft>
              <a:buSzPts val="1800"/>
              <a:buChar char="-"/>
            </a:pPr>
            <a:r>
              <a:rPr lang="en"/>
              <a:t>Life Expectancy</a:t>
            </a:r>
            <a:endParaRPr/>
          </a:p>
          <a:p>
            <a:pPr indent="-342900" lvl="0" marL="457200" rtl="0" algn="l">
              <a:spcBef>
                <a:spcPts val="0"/>
              </a:spcBef>
              <a:spcAft>
                <a:spcPts val="0"/>
              </a:spcAft>
              <a:buSzPts val="1800"/>
              <a:buChar char="-"/>
            </a:pPr>
            <a:r>
              <a:rPr lang="en"/>
              <a:t>Freedom of Choice</a:t>
            </a:r>
            <a:endParaRPr/>
          </a:p>
          <a:p>
            <a:pPr indent="-342900" lvl="0" marL="457200" rtl="0" algn="l">
              <a:spcBef>
                <a:spcPts val="0"/>
              </a:spcBef>
              <a:spcAft>
                <a:spcPts val="0"/>
              </a:spcAft>
              <a:buSzPts val="1800"/>
              <a:buChar char="-"/>
            </a:pPr>
            <a:r>
              <a:rPr lang="en"/>
              <a:t>Generosity of the Public</a:t>
            </a:r>
            <a:endParaRPr/>
          </a:p>
          <a:p>
            <a:pPr indent="-342900" lvl="0" marL="457200" rtl="0" algn="l">
              <a:spcBef>
                <a:spcPts val="0"/>
              </a:spcBef>
              <a:spcAft>
                <a:spcPts val="0"/>
              </a:spcAft>
              <a:buSzPts val="1800"/>
              <a:buChar char="-"/>
            </a:pPr>
            <a:r>
              <a:rPr lang="en"/>
              <a:t>Trust in Government</a:t>
            </a:r>
            <a:endParaRPr/>
          </a:p>
          <a:p>
            <a:pPr indent="-342900" lvl="0" marL="457200" rtl="0" algn="l">
              <a:spcBef>
                <a:spcPts val="0"/>
              </a:spcBef>
              <a:spcAft>
                <a:spcPts val="0"/>
              </a:spcAft>
              <a:buSzPts val="1800"/>
              <a:buChar char="-"/>
            </a:pPr>
            <a:r>
              <a:rPr lang="en"/>
              <a:t>Latitude</a:t>
            </a:r>
            <a:endParaRPr/>
          </a:p>
          <a:p>
            <a:pPr indent="-342900" lvl="0" marL="457200" rtl="0" algn="l">
              <a:spcBef>
                <a:spcPts val="0"/>
              </a:spcBef>
              <a:spcAft>
                <a:spcPts val="0"/>
              </a:spcAft>
              <a:buSzPts val="1800"/>
              <a:buChar char="-"/>
            </a:pPr>
            <a:r>
              <a:rPr lang="en"/>
              <a:t>Longitude</a:t>
            </a:r>
            <a:endParaRPr/>
          </a:p>
        </p:txBody>
      </p:sp>
      <p:sp>
        <p:nvSpPr>
          <p:cNvPr id="76" name="Google Shape;76;p15"/>
          <p:cNvSpPr txBox="1"/>
          <p:nvPr/>
        </p:nvSpPr>
        <p:spPr>
          <a:xfrm>
            <a:off x="809475" y="1152475"/>
            <a:ext cx="4260300" cy="9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50">
                <a:solidFill>
                  <a:schemeClr val="accent3"/>
                </a:solidFill>
                <a:latin typeface="Average"/>
                <a:ea typeface="Average"/>
                <a:cs typeface="Average"/>
                <a:sym typeface="Average"/>
              </a:rPr>
              <a:t>Target Variables:</a:t>
            </a:r>
            <a:endParaRPr sz="1650">
              <a:solidFill>
                <a:schemeClr val="accent3"/>
              </a:solidFill>
              <a:latin typeface="Average"/>
              <a:ea typeface="Average"/>
              <a:cs typeface="Average"/>
              <a:sym typeface="Average"/>
            </a:endParaRPr>
          </a:p>
          <a:p>
            <a:pPr indent="-333375" lvl="0" marL="457200" rtl="0" algn="l">
              <a:spcBef>
                <a:spcPts val="0"/>
              </a:spcBef>
              <a:spcAft>
                <a:spcPts val="0"/>
              </a:spcAft>
              <a:buClr>
                <a:schemeClr val="accent3"/>
              </a:buClr>
              <a:buSzPts val="1650"/>
              <a:buFont typeface="Average"/>
              <a:buChar char="-"/>
            </a:pPr>
            <a:r>
              <a:rPr lang="en" sz="1650">
                <a:solidFill>
                  <a:schemeClr val="accent3"/>
                </a:solidFill>
                <a:latin typeface="Average"/>
                <a:ea typeface="Average"/>
                <a:cs typeface="Average"/>
                <a:sym typeface="Average"/>
              </a:rPr>
              <a:t> Happiness Score</a:t>
            </a:r>
            <a:endParaRPr sz="1650">
              <a:solidFill>
                <a:schemeClr val="accent3"/>
              </a:solidFill>
              <a:latin typeface="Average"/>
              <a:ea typeface="Average"/>
              <a:cs typeface="Average"/>
              <a:sym typeface="Average"/>
            </a:endParaRPr>
          </a:p>
          <a:p>
            <a:pPr indent="-333375" lvl="0" marL="457200" rtl="0" algn="l">
              <a:spcBef>
                <a:spcPts val="0"/>
              </a:spcBef>
              <a:spcAft>
                <a:spcPts val="0"/>
              </a:spcAft>
              <a:buClr>
                <a:schemeClr val="accent3"/>
              </a:buClr>
              <a:buSzPts val="1650"/>
              <a:buFont typeface="Average"/>
              <a:buChar char="-"/>
            </a:pPr>
            <a:r>
              <a:rPr lang="en" sz="1650">
                <a:solidFill>
                  <a:schemeClr val="accent3"/>
                </a:solidFill>
                <a:latin typeface="Average"/>
                <a:ea typeface="Average"/>
                <a:cs typeface="Average"/>
                <a:sym typeface="Average"/>
              </a:rPr>
              <a:t>GINI Inequality Value</a:t>
            </a:r>
            <a:endParaRPr sz="1650">
              <a:solidFill>
                <a:schemeClr val="accent3"/>
              </a:solidFill>
              <a:latin typeface="Average"/>
              <a:ea typeface="Average"/>
              <a:cs typeface="Average"/>
              <a:sym typeface="Average"/>
            </a:endParaRPr>
          </a:p>
        </p:txBody>
      </p:sp>
      <p:sp>
        <p:nvSpPr>
          <p:cNvPr id="77" name="Google Shape;77;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Visualizing the dataset</a:t>
            </a:r>
            <a:endParaRPr/>
          </a:p>
        </p:txBody>
      </p:sp>
      <p:sp>
        <p:nvSpPr>
          <p:cNvPr id="83" name="Google Shape;8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sp>
        <p:nvSpPr>
          <p:cNvPr id="84" name="Google Shape;84;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5" name="Google Shape;85;p16"/>
          <p:cNvPicPr preferRelativeResize="0"/>
          <p:nvPr/>
        </p:nvPicPr>
        <p:blipFill>
          <a:blip r:embed="rId3">
            <a:alphaModFix/>
          </a:blip>
          <a:stretch>
            <a:fillRect/>
          </a:stretch>
        </p:blipFill>
        <p:spPr>
          <a:xfrm>
            <a:off x="666000" y="1091350"/>
            <a:ext cx="3400950" cy="1830825"/>
          </a:xfrm>
          <a:prstGeom prst="rect">
            <a:avLst/>
          </a:prstGeom>
          <a:noFill/>
          <a:ln>
            <a:noFill/>
          </a:ln>
        </p:spPr>
      </p:pic>
      <p:sp>
        <p:nvSpPr>
          <p:cNvPr id="86" name="Google Shape;86;p16"/>
          <p:cNvSpPr txBox="1"/>
          <p:nvPr>
            <p:ph idx="1" type="body"/>
          </p:nvPr>
        </p:nvSpPr>
        <p:spPr>
          <a:xfrm>
            <a:off x="403000" y="4394175"/>
            <a:ext cx="8520600" cy="129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87" name="Google Shape;87;p16"/>
          <p:cNvPicPr preferRelativeResize="0"/>
          <p:nvPr/>
        </p:nvPicPr>
        <p:blipFill>
          <a:blip r:embed="rId4">
            <a:alphaModFix/>
          </a:blip>
          <a:stretch>
            <a:fillRect/>
          </a:stretch>
        </p:blipFill>
        <p:spPr>
          <a:xfrm>
            <a:off x="666000" y="3119425"/>
            <a:ext cx="3400950" cy="1830825"/>
          </a:xfrm>
          <a:prstGeom prst="rect">
            <a:avLst/>
          </a:prstGeom>
          <a:noFill/>
          <a:ln>
            <a:noFill/>
          </a:ln>
        </p:spPr>
      </p:pic>
      <p:pic>
        <p:nvPicPr>
          <p:cNvPr id="88" name="Google Shape;88;p16"/>
          <p:cNvPicPr preferRelativeResize="0"/>
          <p:nvPr/>
        </p:nvPicPr>
        <p:blipFill>
          <a:blip r:embed="rId5">
            <a:alphaModFix/>
          </a:blip>
          <a:stretch>
            <a:fillRect/>
          </a:stretch>
        </p:blipFill>
        <p:spPr>
          <a:xfrm>
            <a:off x="4355625" y="1091350"/>
            <a:ext cx="3269471" cy="1830825"/>
          </a:xfrm>
          <a:prstGeom prst="rect">
            <a:avLst/>
          </a:prstGeom>
          <a:noFill/>
          <a:ln>
            <a:noFill/>
          </a:ln>
        </p:spPr>
      </p:pic>
      <p:pic>
        <p:nvPicPr>
          <p:cNvPr id="89" name="Google Shape;89;p16"/>
          <p:cNvPicPr preferRelativeResize="0"/>
          <p:nvPr/>
        </p:nvPicPr>
        <p:blipFill>
          <a:blip r:embed="rId6">
            <a:alphaModFix/>
          </a:blip>
          <a:stretch>
            <a:fillRect/>
          </a:stretch>
        </p:blipFill>
        <p:spPr>
          <a:xfrm>
            <a:off x="4443725" y="3119425"/>
            <a:ext cx="3181376" cy="1830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671250" y="2141250"/>
            <a:ext cx="7852200" cy="861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How is each country’s happiness index affected by features used in our data set? </a:t>
            </a:r>
            <a:endParaRPr/>
          </a:p>
        </p:txBody>
      </p:sp>
      <p:sp>
        <p:nvSpPr>
          <p:cNvPr id="95" name="Google Shape;95;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a:t>
            </a:r>
            <a:r>
              <a:rPr lang="en"/>
              <a:t> Data Analysis</a:t>
            </a:r>
            <a:endParaRPr/>
          </a:p>
        </p:txBody>
      </p:sp>
      <p:sp>
        <p:nvSpPr>
          <p:cNvPr id="101" name="Google Shape;101;p18"/>
          <p:cNvSpPr txBox="1"/>
          <p:nvPr>
            <p:ph idx="1" type="body"/>
          </p:nvPr>
        </p:nvSpPr>
        <p:spPr>
          <a:xfrm>
            <a:off x="311700" y="445025"/>
            <a:ext cx="8520600" cy="3416400"/>
          </a:xfrm>
          <a:prstGeom prst="rect">
            <a:avLst/>
          </a:prstGeom>
        </p:spPr>
        <p:txBody>
          <a:bodyPr anchorCtr="0" anchor="t" bIns="91425" lIns="91425" spcFirstLastPara="1" rIns="91425" wrap="square" tIns="91425">
            <a:normAutofit/>
          </a:bodyPr>
          <a:lstStyle/>
          <a:p>
            <a:pPr indent="0" lvl="0" marL="0" rtl="0" algn="l">
              <a:lnSpc>
                <a:spcPct val="180000"/>
              </a:lnSpc>
              <a:spcBef>
                <a:spcPts val="0"/>
              </a:spcBef>
              <a:spcAft>
                <a:spcPts val="0"/>
              </a:spcAft>
              <a:buNone/>
            </a:pPr>
            <a:r>
              <a:t/>
            </a:r>
            <a:endParaRPr sz="2400"/>
          </a:p>
          <a:p>
            <a:pPr indent="-381000" lvl="0" marL="457200" rtl="0" algn="l">
              <a:lnSpc>
                <a:spcPct val="180000"/>
              </a:lnSpc>
              <a:spcBef>
                <a:spcPts val="0"/>
              </a:spcBef>
              <a:spcAft>
                <a:spcPts val="0"/>
              </a:spcAft>
              <a:buSzPts val="2400"/>
              <a:buChar char="●"/>
            </a:pPr>
            <a:r>
              <a:rPr lang="en" sz="2400"/>
              <a:t>Histogram for response</a:t>
            </a:r>
            <a:endParaRPr sz="2400"/>
          </a:p>
          <a:p>
            <a:pPr indent="-381000" lvl="0" marL="457200" rtl="0" algn="l">
              <a:lnSpc>
                <a:spcPct val="180000"/>
              </a:lnSpc>
              <a:spcBef>
                <a:spcPts val="0"/>
              </a:spcBef>
              <a:spcAft>
                <a:spcPts val="0"/>
              </a:spcAft>
              <a:buSzPts val="2400"/>
              <a:buChar char="●"/>
            </a:pPr>
            <a:r>
              <a:rPr lang="en" sz="2400"/>
              <a:t>Correlation Matrix</a:t>
            </a:r>
            <a:endParaRPr sz="2400"/>
          </a:p>
          <a:p>
            <a:pPr indent="-381000" lvl="1" marL="914400" rtl="0" algn="l">
              <a:lnSpc>
                <a:spcPct val="180000"/>
              </a:lnSpc>
              <a:spcBef>
                <a:spcPts val="0"/>
              </a:spcBef>
              <a:spcAft>
                <a:spcPts val="0"/>
              </a:spcAft>
              <a:buSzPts val="2400"/>
              <a:buChar char="○"/>
            </a:pPr>
            <a:r>
              <a:rPr lang="en" sz="2400"/>
              <a:t>Created plots for the 4 most correlated</a:t>
            </a:r>
            <a:endParaRPr sz="2400"/>
          </a:p>
          <a:p>
            <a:pPr indent="0" lvl="0" marL="0" rtl="0" algn="l">
              <a:spcBef>
                <a:spcPts val="0"/>
              </a:spcBef>
              <a:spcAft>
                <a:spcPts val="1200"/>
              </a:spcAft>
              <a:buNone/>
            </a:pPr>
            <a:r>
              <a:rPr lang="en"/>
              <a:t>	</a:t>
            </a:r>
            <a:endParaRPr/>
          </a:p>
        </p:txBody>
      </p:sp>
      <p:sp>
        <p:nvSpPr>
          <p:cNvPr id="102" name="Google Shape;102;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19"/>
          <p:cNvPicPr preferRelativeResize="0"/>
          <p:nvPr/>
        </p:nvPicPr>
        <p:blipFill>
          <a:blip r:embed="rId3">
            <a:alphaModFix/>
          </a:blip>
          <a:stretch>
            <a:fillRect/>
          </a:stretch>
        </p:blipFill>
        <p:spPr>
          <a:xfrm>
            <a:off x="410283" y="0"/>
            <a:ext cx="8323435" cy="5143500"/>
          </a:xfrm>
          <a:prstGeom prst="rect">
            <a:avLst/>
          </a:prstGeom>
          <a:noFill/>
          <a:ln>
            <a:noFill/>
          </a:ln>
        </p:spPr>
      </p:pic>
      <p:sp>
        <p:nvSpPr>
          <p:cNvPr id="110" name="Google Shape;110;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0"/>
          <p:cNvPicPr preferRelativeResize="0"/>
          <p:nvPr/>
        </p:nvPicPr>
        <p:blipFill>
          <a:blip r:embed="rId3">
            <a:alphaModFix/>
          </a:blip>
          <a:stretch>
            <a:fillRect/>
          </a:stretch>
        </p:blipFill>
        <p:spPr>
          <a:xfrm>
            <a:off x="855813" y="275675"/>
            <a:ext cx="7432376" cy="4592151"/>
          </a:xfrm>
          <a:prstGeom prst="rect">
            <a:avLst/>
          </a:prstGeom>
          <a:noFill/>
          <a:ln>
            <a:noFill/>
          </a:ln>
        </p:spPr>
      </p:pic>
      <p:sp>
        <p:nvSpPr>
          <p:cNvPr id="116" name="Google Shape;116;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1"/>
          <p:cNvPicPr preferRelativeResize="0"/>
          <p:nvPr/>
        </p:nvPicPr>
        <p:blipFill>
          <a:blip r:embed="rId3">
            <a:alphaModFix/>
          </a:blip>
          <a:stretch>
            <a:fillRect/>
          </a:stretch>
        </p:blipFill>
        <p:spPr>
          <a:xfrm>
            <a:off x="0" y="0"/>
            <a:ext cx="4572001" cy="2824841"/>
          </a:xfrm>
          <a:prstGeom prst="rect">
            <a:avLst/>
          </a:prstGeom>
          <a:noFill/>
          <a:ln>
            <a:noFill/>
          </a:ln>
        </p:spPr>
      </p:pic>
      <p:pic>
        <p:nvPicPr>
          <p:cNvPr id="122" name="Google Shape;122;p21"/>
          <p:cNvPicPr preferRelativeResize="0"/>
          <p:nvPr/>
        </p:nvPicPr>
        <p:blipFill>
          <a:blip r:embed="rId4">
            <a:alphaModFix/>
          </a:blip>
          <a:stretch>
            <a:fillRect/>
          </a:stretch>
        </p:blipFill>
        <p:spPr>
          <a:xfrm>
            <a:off x="4572000" y="0"/>
            <a:ext cx="4572001" cy="2824848"/>
          </a:xfrm>
          <a:prstGeom prst="rect">
            <a:avLst/>
          </a:prstGeom>
          <a:noFill/>
          <a:ln>
            <a:noFill/>
          </a:ln>
        </p:spPr>
      </p:pic>
      <p:pic>
        <p:nvPicPr>
          <p:cNvPr id="123" name="Google Shape;123;p21"/>
          <p:cNvPicPr preferRelativeResize="0"/>
          <p:nvPr/>
        </p:nvPicPr>
        <p:blipFill>
          <a:blip r:embed="rId5">
            <a:alphaModFix/>
          </a:blip>
          <a:stretch>
            <a:fillRect/>
          </a:stretch>
        </p:blipFill>
        <p:spPr>
          <a:xfrm>
            <a:off x="0" y="2824850"/>
            <a:ext cx="4572001" cy="2318650"/>
          </a:xfrm>
          <a:prstGeom prst="rect">
            <a:avLst/>
          </a:prstGeom>
          <a:noFill/>
          <a:ln>
            <a:noFill/>
          </a:ln>
        </p:spPr>
      </p:pic>
      <p:pic>
        <p:nvPicPr>
          <p:cNvPr id="124" name="Google Shape;124;p21"/>
          <p:cNvPicPr preferRelativeResize="0"/>
          <p:nvPr/>
        </p:nvPicPr>
        <p:blipFill>
          <a:blip r:embed="rId6">
            <a:alphaModFix/>
          </a:blip>
          <a:stretch>
            <a:fillRect/>
          </a:stretch>
        </p:blipFill>
        <p:spPr>
          <a:xfrm>
            <a:off x="4572000" y="2824850"/>
            <a:ext cx="4572001" cy="2318650"/>
          </a:xfrm>
          <a:prstGeom prst="rect">
            <a:avLst/>
          </a:prstGeom>
          <a:noFill/>
          <a:ln>
            <a:noFill/>
          </a:ln>
        </p:spPr>
      </p:pic>
      <p:sp>
        <p:nvSpPr>
          <p:cNvPr id="125" name="Google Shape;125;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 modeling + Results									</a:t>
            </a:r>
            <a:endParaRPr/>
          </a:p>
        </p:txBody>
      </p:sp>
      <p:sp>
        <p:nvSpPr>
          <p:cNvPr id="131" name="Google Shape;131;p22"/>
          <p:cNvSpPr txBox="1"/>
          <p:nvPr>
            <p:ph idx="1" type="body"/>
          </p:nvPr>
        </p:nvSpPr>
        <p:spPr>
          <a:xfrm>
            <a:off x="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We tried 5 different regression models for this data.</a:t>
            </a:r>
            <a:endParaRPr/>
          </a:p>
          <a:p>
            <a:pPr indent="0" lvl="0" marL="0" rtl="0" algn="l">
              <a:spcBef>
                <a:spcPts val="1200"/>
              </a:spcBef>
              <a:spcAft>
                <a:spcPts val="0"/>
              </a:spcAft>
              <a:buNone/>
            </a:pPr>
            <a:r>
              <a:rPr lang="en"/>
              <a:t>3 linear regression models, 1 selection model, 1 shrinkage method.</a:t>
            </a:r>
            <a:endParaRPr/>
          </a:p>
          <a:p>
            <a:pPr indent="-330200" lvl="0" marL="457200" rtl="0" algn="l">
              <a:spcBef>
                <a:spcPts val="1200"/>
              </a:spcBef>
              <a:spcAft>
                <a:spcPts val="0"/>
              </a:spcAft>
              <a:buSzPts val="1600"/>
              <a:buChar char="●"/>
            </a:pPr>
            <a:r>
              <a:rPr lang="en" sz="1600"/>
              <a:t>Linear Model 1: All variables</a:t>
            </a:r>
            <a:endParaRPr sz="1600"/>
          </a:p>
          <a:p>
            <a:pPr indent="-330200" lvl="0" marL="457200" rtl="0" algn="l">
              <a:spcBef>
                <a:spcPts val="0"/>
              </a:spcBef>
              <a:spcAft>
                <a:spcPts val="0"/>
              </a:spcAft>
              <a:buSzPts val="1600"/>
              <a:buChar char="●"/>
            </a:pPr>
            <a:r>
              <a:rPr lang="en" sz="1600"/>
              <a:t>Linear Model 2: Only significant variables</a:t>
            </a:r>
            <a:endParaRPr sz="1600"/>
          </a:p>
          <a:p>
            <a:pPr indent="-330200" lvl="0" marL="457200" rtl="0" algn="l">
              <a:spcBef>
                <a:spcPts val="0"/>
              </a:spcBef>
              <a:spcAft>
                <a:spcPts val="0"/>
              </a:spcAft>
              <a:buSzPts val="1600"/>
              <a:buChar char="●"/>
            </a:pPr>
            <a:r>
              <a:rPr lang="en" sz="1600"/>
              <a:t>Linear Model 3: Significant variables + log transformation on response</a:t>
            </a:r>
            <a:endParaRPr sz="1600"/>
          </a:p>
          <a:p>
            <a:pPr indent="-330200" lvl="0" marL="457200" rtl="0" algn="l">
              <a:spcBef>
                <a:spcPts val="0"/>
              </a:spcBef>
              <a:spcAft>
                <a:spcPts val="0"/>
              </a:spcAft>
              <a:buSzPts val="1600"/>
              <a:buChar char="●"/>
            </a:pPr>
            <a:r>
              <a:rPr lang="en" sz="1600"/>
              <a:t>Selection Model: Forward Stepwise Selection</a:t>
            </a:r>
            <a:endParaRPr sz="1600"/>
          </a:p>
          <a:p>
            <a:pPr indent="-330200" lvl="0" marL="457200" rtl="0" algn="l">
              <a:spcBef>
                <a:spcPts val="0"/>
              </a:spcBef>
              <a:spcAft>
                <a:spcPts val="0"/>
              </a:spcAft>
              <a:buSzPts val="1600"/>
              <a:buChar char="●"/>
            </a:pPr>
            <a:r>
              <a:rPr lang="en" sz="1600"/>
              <a:t>Shrinkage Method: Lasso Regression</a:t>
            </a:r>
            <a:endParaRPr sz="1600"/>
          </a:p>
        </p:txBody>
      </p:sp>
      <p:sp>
        <p:nvSpPr>
          <p:cNvPr id="132" name="Google Shape;132;p2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t/>
            </a:r>
            <a:endParaRPr/>
          </a:p>
        </p:txBody>
      </p:sp>
      <p:pic>
        <p:nvPicPr>
          <p:cNvPr id="133" name="Google Shape;133;p22"/>
          <p:cNvPicPr preferRelativeResize="0"/>
          <p:nvPr/>
        </p:nvPicPr>
        <p:blipFill>
          <a:blip r:embed="rId3">
            <a:alphaModFix/>
          </a:blip>
          <a:stretch>
            <a:fillRect/>
          </a:stretch>
        </p:blipFill>
        <p:spPr>
          <a:xfrm>
            <a:off x="3999900" y="264800"/>
            <a:ext cx="2564824" cy="1945900"/>
          </a:xfrm>
          <a:prstGeom prst="rect">
            <a:avLst/>
          </a:prstGeom>
          <a:noFill/>
          <a:ln>
            <a:noFill/>
          </a:ln>
        </p:spPr>
      </p:pic>
      <p:pic>
        <p:nvPicPr>
          <p:cNvPr id="134" name="Google Shape;134;p22"/>
          <p:cNvPicPr preferRelativeResize="0"/>
          <p:nvPr/>
        </p:nvPicPr>
        <p:blipFill>
          <a:blip r:embed="rId4">
            <a:alphaModFix/>
          </a:blip>
          <a:stretch>
            <a:fillRect/>
          </a:stretch>
        </p:blipFill>
        <p:spPr>
          <a:xfrm>
            <a:off x="6564725" y="264800"/>
            <a:ext cx="2423625" cy="1945900"/>
          </a:xfrm>
          <a:prstGeom prst="rect">
            <a:avLst/>
          </a:prstGeom>
          <a:noFill/>
          <a:ln>
            <a:noFill/>
          </a:ln>
        </p:spPr>
      </p:pic>
      <p:sp>
        <p:nvSpPr>
          <p:cNvPr id="135" name="Google Shape;135;p22"/>
          <p:cNvSpPr/>
          <p:nvPr/>
        </p:nvSpPr>
        <p:spPr>
          <a:xfrm>
            <a:off x="3321600" y="4365875"/>
            <a:ext cx="1250400" cy="63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lm1</a:t>
            </a:r>
            <a:endParaRPr/>
          </a:p>
        </p:txBody>
      </p:sp>
      <p:pic>
        <p:nvPicPr>
          <p:cNvPr id="136" name="Google Shape;136;p22"/>
          <p:cNvPicPr preferRelativeResize="0"/>
          <p:nvPr/>
        </p:nvPicPr>
        <p:blipFill>
          <a:blip r:embed="rId5">
            <a:alphaModFix/>
          </a:blip>
          <a:stretch>
            <a:fillRect/>
          </a:stretch>
        </p:blipFill>
        <p:spPr>
          <a:xfrm>
            <a:off x="4832400" y="2445025"/>
            <a:ext cx="3999900" cy="2554150"/>
          </a:xfrm>
          <a:prstGeom prst="rect">
            <a:avLst/>
          </a:prstGeom>
          <a:noFill/>
          <a:ln>
            <a:noFill/>
          </a:ln>
        </p:spPr>
      </p:pic>
      <p:sp>
        <p:nvSpPr>
          <p:cNvPr id="137" name="Google Shape;137;p22"/>
          <p:cNvSpPr/>
          <p:nvPr/>
        </p:nvSpPr>
        <p:spPr>
          <a:xfrm rot="-2548909">
            <a:off x="3741201" y="2441976"/>
            <a:ext cx="922180" cy="49962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Lm2&amp;3</a:t>
            </a:r>
            <a:endParaRPr/>
          </a:p>
        </p:txBody>
      </p:sp>
      <p:sp>
        <p:nvSpPr>
          <p:cNvPr id="138" name="Google Shape;138;p2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Tree modeling + Results</a:t>
            </a:r>
            <a:endParaRPr/>
          </a:p>
        </p:txBody>
      </p:sp>
      <p:sp>
        <p:nvSpPr>
          <p:cNvPr id="144" name="Google Shape;144;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tried 2 tree-based methods.</a:t>
            </a:r>
            <a:endParaRPr/>
          </a:p>
          <a:p>
            <a:pPr indent="-317500" lvl="0" marL="457200" rtl="0" algn="l">
              <a:spcBef>
                <a:spcPts val="1200"/>
              </a:spcBef>
              <a:spcAft>
                <a:spcPts val="0"/>
              </a:spcAft>
              <a:buSzPts val="1400"/>
              <a:buChar char="●"/>
            </a:pPr>
            <a:r>
              <a:rPr lang="en"/>
              <a:t>Decision Tree</a:t>
            </a:r>
            <a:endParaRPr/>
          </a:p>
          <a:p>
            <a:pPr indent="-304800" lvl="1" marL="914400" rtl="0" algn="l">
              <a:spcBef>
                <a:spcPts val="0"/>
              </a:spcBef>
              <a:spcAft>
                <a:spcPts val="0"/>
              </a:spcAft>
              <a:buSzPts val="1200"/>
              <a:buChar char="○"/>
            </a:pPr>
            <a:r>
              <a:rPr lang="en"/>
              <a:t>Tree used 8 predictors and had 12 terminal nodes</a:t>
            </a:r>
            <a:endParaRPr/>
          </a:p>
          <a:p>
            <a:pPr indent="-304800" lvl="1" marL="914400" rtl="0" algn="l">
              <a:spcBef>
                <a:spcPts val="0"/>
              </a:spcBef>
              <a:spcAft>
                <a:spcPts val="0"/>
              </a:spcAft>
              <a:buSzPts val="1200"/>
              <a:buChar char="○"/>
            </a:pPr>
            <a:r>
              <a:rPr lang="en"/>
              <a:t>support, gdp, freedom, generosity, longitude, latitude, trust, life_expectancy</a:t>
            </a:r>
            <a:endParaRPr/>
          </a:p>
          <a:p>
            <a:pPr indent="-317500" lvl="0" marL="457200" rtl="0" algn="l">
              <a:spcBef>
                <a:spcPts val="0"/>
              </a:spcBef>
              <a:spcAft>
                <a:spcPts val="0"/>
              </a:spcAft>
              <a:buSzPts val="1400"/>
              <a:buChar char="●"/>
            </a:pPr>
            <a:r>
              <a:rPr lang="en"/>
              <a:t>Random Forest</a:t>
            </a:r>
            <a:endParaRPr/>
          </a:p>
          <a:p>
            <a:pPr indent="-304800" lvl="1" marL="914400" rtl="0" algn="l">
              <a:spcBef>
                <a:spcPts val="0"/>
              </a:spcBef>
              <a:spcAft>
                <a:spcPts val="0"/>
              </a:spcAft>
              <a:buSzPts val="1200"/>
              <a:buChar char="○"/>
            </a:pPr>
            <a:r>
              <a:rPr lang="en"/>
              <a:t>1000 trees</a:t>
            </a:r>
            <a:endParaRPr/>
          </a:p>
          <a:p>
            <a:pPr indent="-304800" lvl="1" marL="914400" rtl="0" algn="l">
              <a:spcBef>
                <a:spcPts val="0"/>
              </a:spcBef>
              <a:spcAft>
                <a:spcPts val="0"/>
              </a:spcAft>
              <a:buSzPts val="1200"/>
              <a:buChar char="○"/>
            </a:pPr>
            <a:r>
              <a:rPr lang="en"/>
              <a:t>mtry = 3</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5" name="Google Shape;145;p2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6" name="Google Shape;146;p23"/>
          <p:cNvPicPr preferRelativeResize="0"/>
          <p:nvPr/>
        </p:nvPicPr>
        <p:blipFill>
          <a:blip r:embed="rId3">
            <a:alphaModFix/>
          </a:blip>
          <a:stretch>
            <a:fillRect/>
          </a:stretch>
        </p:blipFill>
        <p:spPr>
          <a:xfrm>
            <a:off x="4981634" y="0"/>
            <a:ext cx="4162365" cy="2571751"/>
          </a:xfrm>
          <a:prstGeom prst="rect">
            <a:avLst/>
          </a:prstGeom>
          <a:noFill/>
          <a:ln>
            <a:noFill/>
          </a:ln>
        </p:spPr>
      </p:pic>
      <p:pic>
        <p:nvPicPr>
          <p:cNvPr id="147" name="Google Shape;147;p23"/>
          <p:cNvPicPr preferRelativeResize="0"/>
          <p:nvPr/>
        </p:nvPicPr>
        <p:blipFill>
          <a:blip r:embed="rId4">
            <a:alphaModFix/>
          </a:blip>
          <a:stretch>
            <a:fillRect/>
          </a:stretch>
        </p:blipFill>
        <p:spPr>
          <a:xfrm>
            <a:off x="2301875" y="2710675"/>
            <a:ext cx="3825976" cy="23639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00" y="172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Predictions + Mean Squared Errors</a:t>
            </a:r>
            <a:endParaRPr/>
          </a:p>
        </p:txBody>
      </p:sp>
      <p:sp>
        <p:nvSpPr>
          <p:cNvPr id="153" name="Google Shape;153;p2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4" name="Google Shape;154;p24"/>
          <p:cNvPicPr preferRelativeResize="0"/>
          <p:nvPr/>
        </p:nvPicPr>
        <p:blipFill>
          <a:blip r:embed="rId3">
            <a:alphaModFix/>
          </a:blip>
          <a:stretch>
            <a:fillRect/>
          </a:stretch>
        </p:blipFill>
        <p:spPr>
          <a:xfrm>
            <a:off x="-25975" y="2978502"/>
            <a:ext cx="3571050" cy="2206401"/>
          </a:xfrm>
          <a:prstGeom prst="rect">
            <a:avLst/>
          </a:prstGeom>
          <a:noFill/>
          <a:ln>
            <a:noFill/>
          </a:ln>
        </p:spPr>
      </p:pic>
      <p:pic>
        <p:nvPicPr>
          <p:cNvPr id="155" name="Google Shape;155;p24"/>
          <p:cNvPicPr preferRelativeResize="0"/>
          <p:nvPr/>
        </p:nvPicPr>
        <p:blipFill>
          <a:blip r:embed="rId4">
            <a:alphaModFix/>
          </a:blip>
          <a:stretch>
            <a:fillRect/>
          </a:stretch>
        </p:blipFill>
        <p:spPr>
          <a:xfrm>
            <a:off x="0" y="676996"/>
            <a:ext cx="4143375" cy="495404"/>
          </a:xfrm>
          <a:prstGeom prst="rect">
            <a:avLst/>
          </a:prstGeom>
          <a:noFill/>
          <a:ln>
            <a:noFill/>
          </a:ln>
        </p:spPr>
      </p:pic>
      <p:pic>
        <p:nvPicPr>
          <p:cNvPr id="156" name="Google Shape;156;p24"/>
          <p:cNvPicPr preferRelativeResize="0"/>
          <p:nvPr/>
        </p:nvPicPr>
        <p:blipFill>
          <a:blip r:embed="rId5">
            <a:alphaModFix/>
          </a:blip>
          <a:stretch>
            <a:fillRect/>
          </a:stretch>
        </p:blipFill>
        <p:spPr>
          <a:xfrm>
            <a:off x="13" y="1172400"/>
            <a:ext cx="4143345" cy="495400"/>
          </a:xfrm>
          <a:prstGeom prst="rect">
            <a:avLst/>
          </a:prstGeom>
          <a:noFill/>
          <a:ln>
            <a:noFill/>
          </a:ln>
        </p:spPr>
      </p:pic>
      <p:pic>
        <p:nvPicPr>
          <p:cNvPr id="157" name="Google Shape;157;p24"/>
          <p:cNvPicPr preferRelativeResize="0"/>
          <p:nvPr/>
        </p:nvPicPr>
        <p:blipFill>
          <a:blip r:embed="rId6">
            <a:alphaModFix/>
          </a:blip>
          <a:stretch>
            <a:fillRect/>
          </a:stretch>
        </p:blipFill>
        <p:spPr>
          <a:xfrm>
            <a:off x="0" y="1667802"/>
            <a:ext cx="4143375" cy="482298"/>
          </a:xfrm>
          <a:prstGeom prst="rect">
            <a:avLst/>
          </a:prstGeom>
          <a:noFill/>
          <a:ln>
            <a:noFill/>
          </a:ln>
        </p:spPr>
      </p:pic>
      <p:pic>
        <p:nvPicPr>
          <p:cNvPr id="158" name="Google Shape;158;p24"/>
          <p:cNvPicPr preferRelativeResize="0"/>
          <p:nvPr/>
        </p:nvPicPr>
        <p:blipFill>
          <a:blip r:embed="rId7">
            <a:alphaModFix/>
          </a:blip>
          <a:stretch>
            <a:fillRect/>
          </a:stretch>
        </p:blipFill>
        <p:spPr>
          <a:xfrm>
            <a:off x="0" y="2095225"/>
            <a:ext cx="4143376" cy="482300"/>
          </a:xfrm>
          <a:prstGeom prst="rect">
            <a:avLst/>
          </a:prstGeom>
          <a:noFill/>
          <a:ln>
            <a:noFill/>
          </a:ln>
        </p:spPr>
      </p:pic>
      <p:pic>
        <p:nvPicPr>
          <p:cNvPr id="159" name="Google Shape;159;p24"/>
          <p:cNvPicPr preferRelativeResize="0"/>
          <p:nvPr/>
        </p:nvPicPr>
        <p:blipFill>
          <a:blip r:embed="rId8">
            <a:alphaModFix/>
          </a:blip>
          <a:stretch>
            <a:fillRect/>
          </a:stretch>
        </p:blipFill>
        <p:spPr>
          <a:xfrm>
            <a:off x="0" y="2577525"/>
            <a:ext cx="4143376" cy="400966"/>
          </a:xfrm>
          <a:prstGeom prst="rect">
            <a:avLst/>
          </a:prstGeom>
          <a:noFill/>
          <a:ln>
            <a:noFill/>
          </a:ln>
        </p:spPr>
      </p:pic>
      <p:pic>
        <p:nvPicPr>
          <p:cNvPr id="160" name="Google Shape;160;p24"/>
          <p:cNvPicPr preferRelativeResize="0"/>
          <p:nvPr/>
        </p:nvPicPr>
        <p:blipFill>
          <a:blip r:embed="rId9">
            <a:alphaModFix/>
          </a:blip>
          <a:stretch>
            <a:fillRect/>
          </a:stretch>
        </p:blipFill>
        <p:spPr>
          <a:xfrm>
            <a:off x="4143350" y="685149"/>
            <a:ext cx="5000649" cy="3808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inequality affect happiness?</a:t>
            </a:r>
            <a:endParaRPr/>
          </a:p>
        </p:txBody>
      </p:sp>
      <p:sp>
        <p:nvSpPr>
          <p:cNvPr id="166" name="Google Shape;166;p2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Contrary to what we predicted, the GINI inequality value for each country had a weak correlation with that countries happiness score</a:t>
            </a:r>
            <a:endParaRPr/>
          </a:p>
          <a:p>
            <a:pPr indent="-317500" lvl="1" marL="914400" rtl="0" algn="l">
              <a:spcBef>
                <a:spcPts val="0"/>
              </a:spcBef>
              <a:spcAft>
                <a:spcPts val="0"/>
              </a:spcAft>
              <a:buSzPts val="1400"/>
              <a:buChar char="○"/>
            </a:pPr>
            <a:r>
              <a:rPr lang="en"/>
              <a:t>-0.16</a:t>
            </a:r>
            <a:endParaRPr sz="1000">
              <a:solidFill>
                <a:srgbClr val="000000"/>
              </a:solidFill>
              <a:highlight>
                <a:srgbClr val="FFFFFF"/>
              </a:highlight>
              <a:latin typeface="Courier New"/>
              <a:ea typeface="Courier New"/>
              <a:cs typeface="Courier New"/>
              <a:sym typeface="Courier New"/>
            </a:endParaRPr>
          </a:p>
          <a:p>
            <a:pPr indent="-342900" lvl="0" marL="457200" rtl="0" algn="l">
              <a:spcBef>
                <a:spcPts val="0"/>
              </a:spcBef>
              <a:spcAft>
                <a:spcPts val="0"/>
              </a:spcAft>
              <a:buSzPts val="1800"/>
              <a:buChar char="●"/>
            </a:pPr>
            <a:r>
              <a:rPr lang="en"/>
              <a:t>Variables like life expectancy, freedom, and support had much stronger correlations</a:t>
            </a:r>
            <a:endParaRPr/>
          </a:p>
        </p:txBody>
      </p:sp>
      <p:sp>
        <p:nvSpPr>
          <p:cNvPr id="167" name="Google Shape;167;p2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8" name="Google Shape;168;p25"/>
          <p:cNvPicPr preferRelativeResize="0"/>
          <p:nvPr/>
        </p:nvPicPr>
        <p:blipFill>
          <a:blip r:embed="rId3">
            <a:alphaModFix/>
          </a:blip>
          <a:stretch>
            <a:fillRect/>
          </a:stretch>
        </p:blipFill>
        <p:spPr>
          <a:xfrm>
            <a:off x="4637850" y="1400025"/>
            <a:ext cx="3797250" cy="2343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Factors correlated with inequality</a:t>
            </a:r>
            <a:endParaRPr/>
          </a:p>
        </p:txBody>
      </p:sp>
      <p:sp>
        <p:nvSpPr>
          <p:cNvPr id="174" name="Google Shape;17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Strongest correlations: latitude, longitude, and life expectancy</a:t>
            </a:r>
            <a:endParaRPr/>
          </a:p>
        </p:txBody>
      </p:sp>
      <p:sp>
        <p:nvSpPr>
          <p:cNvPr id="175" name="Google Shape;175;p2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6" name="Google Shape;176;p26"/>
          <p:cNvPicPr preferRelativeResize="0"/>
          <p:nvPr/>
        </p:nvPicPr>
        <p:blipFill>
          <a:blip r:embed="rId3">
            <a:alphaModFix/>
          </a:blip>
          <a:stretch>
            <a:fillRect/>
          </a:stretch>
        </p:blipFill>
        <p:spPr>
          <a:xfrm>
            <a:off x="267450" y="2006875"/>
            <a:ext cx="2759726" cy="1703150"/>
          </a:xfrm>
          <a:prstGeom prst="rect">
            <a:avLst/>
          </a:prstGeom>
          <a:noFill/>
          <a:ln>
            <a:noFill/>
          </a:ln>
        </p:spPr>
      </p:pic>
      <p:pic>
        <p:nvPicPr>
          <p:cNvPr id="177" name="Google Shape;177;p26"/>
          <p:cNvPicPr preferRelativeResize="0"/>
          <p:nvPr/>
        </p:nvPicPr>
        <p:blipFill>
          <a:blip r:embed="rId4">
            <a:alphaModFix/>
          </a:blip>
          <a:stretch>
            <a:fillRect/>
          </a:stretch>
        </p:blipFill>
        <p:spPr>
          <a:xfrm>
            <a:off x="3230050" y="2006882"/>
            <a:ext cx="2759726" cy="1703143"/>
          </a:xfrm>
          <a:prstGeom prst="rect">
            <a:avLst/>
          </a:prstGeom>
          <a:noFill/>
          <a:ln>
            <a:noFill/>
          </a:ln>
        </p:spPr>
      </p:pic>
      <p:pic>
        <p:nvPicPr>
          <p:cNvPr id="178" name="Google Shape;178;p26"/>
          <p:cNvPicPr preferRelativeResize="0"/>
          <p:nvPr/>
        </p:nvPicPr>
        <p:blipFill>
          <a:blip r:embed="rId5">
            <a:alphaModFix/>
          </a:blip>
          <a:stretch>
            <a:fillRect/>
          </a:stretch>
        </p:blipFill>
        <p:spPr>
          <a:xfrm>
            <a:off x="6201675" y="2006875"/>
            <a:ext cx="2759726" cy="17031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GINI</a:t>
            </a:r>
            <a:endParaRPr/>
          </a:p>
        </p:txBody>
      </p:sp>
      <p:sp>
        <p:nvSpPr>
          <p:cNvPr id="184" name="Google Shape;184;p2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Using random forest, decision tree modeling, and linear regression</a:t>
            </a:r>
            <a:endParaRPr/>
          </a:p>
          <a:p>
            <a:pPr indent="-317500" lvl="1" marL="914400" rtl="0" algn="l">
              <a:spcBef>
                <a:spcPts val="0"/>
              </a:spcBef>
              <a:spcAft>
                <a:spcPts val="0"/>
              </a:spcAft>
              <a:buSzPts val="1400"/>
              <a:buChar char="○"/>
            </a:pPr>
            <a:r>
              <a:rPr b="1" lang="en"/>
              <a:t>Random Forest MSE: 9.519161 </a:t>
            </a:r>
            <a:endParaRPr b="1"/>
          </a:p>
          <a:p>
            <a:pPr indent="-317500" lvl="1" marL="914400" rtl="0" algn="l">
              <a:spcBef>
                <a:spcPts val="0"/>
              </a:spcBef>
              <a:spcAft>
                <a:spcPts val="0"/>
              </a:spcAft>
              <a:buSzPts val="1400"/>
              <a:buChar char="○"/>
            </a:pPr>
            <a:r>
              <a:rPr b="1" lang="en"/>
              <a:t>Random Forest R-squared: 0.8193788 </a:t>
            </a:r>
            <a:endParaRPr b="1"/>
          </a:p>
          <a:p>
            <a:pPr indent="-317500" lvl="1" marL="914400" rtl="0" algn="l">
              <a:spcBef>
                <a:spcPts val="0"/>
              </a:spcBef>
              <a:spcAft>
                <a:spcPts val="0"/>
              </a:spcAft>
              <a:buSzPts val="1400"/>
              <a:buChar char="○"/>
            </a:pPr>
            <a:r>
              <a:rPr lang="en"/>
              <a:t>Tree MSE: 23.32425 </a:t>
            </a:r>
            <a:endParaRPr/>
          </a:p>
          <a:p>
            <a:pPr indent="-317500" lvl="1" marL="914400" rtl="0" algn="l">
              <a:spcBef>
                <a:spcPts val="0"/>
              </a:spcBef>
              <a:spcAft>
                <a:spcPts val="0"/>
              </a:spcAft>
              <a:buSzPts val="1400"/>
              <a:buChar char="○"/>
            </a:pPr>
            <a:r>
              <a:rPr lang="en"/>
              <a:t>Tree R-squared: 0.5524749 </a:t>
            </a:r>
            <a:endParaRPr/>
          </a:p>
          <a:p>
            <a:pPr indent="-317500" lvl="1" marL="914400" rtl="0" algn="l">
              <a:spcBef>
                <a:spcPts val="0"/>
              </a:spcBef>
              <a:spcAft>
                <a:spcPts val="0"/>
              </a:spcAft>
              <a:buSzPts val="1400"/>
              <a:buChar char="○"/>
            </a:pPr>
            <a:r>
              <a:rPr lang="en"/>
              <a:t>Linear MSE: 20.42504 </a:t>
            </a:r>
            <a:endParaRPr/>
          </a:p>
          <a:p>
            <a:pPr indent="-317500" lvl="1" marL="914400" rtl="0" algn="l">
              <a:spcBef>
                <a:spcPts val="0"/>
              </a:spcBef>
              <a:spcAft>
                <a:spcPts val="0"/>
              </a:spcAft>
              <a:buSzPts val="1400"/>
              <a:buChar char="○"/>
            </a:pPr>
            <a:r>
              <a:rPr lang="en"/>
              <a:t>Linear R-squared: 0.6171535</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sp>
        <p:nvSpPr>
          <p:cNvPr id="185" name="Google Shape;185;p2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6" name="Google Shape;186;p27"/>
          <p:cNvPicPr preferRelativeResize="0"/>
          <p:nvPr/>
        </p:nvPicPr>
        <p:blipFill>
          <a:blip r:embed="rId3">
            <a:alphaModFix/>
          </a:blip>
          <a:stretch>
            <a:fillRect/>
          </a:stretch>
        </p:blipFill>
        <p:spPr>
          <a:xfrm>
            <a:off x="4950475" y="1415400"/>
            <a:ext cx="3747425" cy="231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192" name="Google Shape;192;p28"/>
          <p:cNvSpPr txBox="1"/>
          <p:nvPr>
            <p:ph idx="1" type="body"/>
          </p:nvPr>
        </p:nvSpPr>
        <p:spPr>
          <a:xfrm>
            <a:off x="311700" y="1152475"/>
            <a:ext cx="4558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random forest model was the best overall predictor despite higher variance</a:t>
            </a:r>
            <a:endParaRPr/>
          </a:p>
          <a:p>
            <a:pPr indent="-342900" lvl="0" marL="457200" rtl="0" algn="l">
              <a:spcBef>
                <a:spcPts val="0"/>
              </a:spcBef>
              <a:spcAft>
                <a:spcPts val="0"/>
              </a:spcAft>
              <a:buSzPts val="1800"/>
              <a:buChar char="-"/>
            </a:pPr>
            <a:r>
              <a:rPr lang="en"/>
              <a:t>Strongest Features</a:t>
            </a:r>
            <a:endParaRPr/>
          </a:p>
        </p:txBody>
      </p:sp>
      <p:sp>
        <p:nvSpPr>
          <p:cNvPr id="193" name="Google Shape;193;p2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4" name="Google Shape;194;p28"/>
          <p:cNvPicPr preferRelativeResize="0"/>
          <p:nvPr/>
        </p:nvPicPr>
        <p:blipFill>
          <a:blip r:embed="rId3">
            <a:alphaModFix/>
          </a:blip>
          <a:stretch>
            <a:fillRect/>
          </a:stretch>
        </p:blipFill>
        <p:spPr>
          <a:xfrm>
            <a:off x="5096925" y="0"/>
            <a:ext cx="4047075" cy="2500499"/>
          </a:xfrm>
          <a:prstGeom prst="rect">
            <a:avLst/>
          </a:prstGeom>
          <a:noFill/>
          <a:ln>
            <a:noFill/>
          </a:ln>
        </p:spPr>
      </p:pic>
      <p:pic>
        <p:nvPicPr>
          <p:cNvPr id="195" name="Google Shape;195;p28"/>
          <p:cNvPicPr preferRelativeResize="0"/>
          <p:nvPr/>
        </p:nvPicPr>
        <p:blipFill>
          <a:blip r:embed="rId4">
            <a:alphaModFix/>
          </a:blip>
          <a:stretch>
            <a:fillRect/>
          </a:stretch>
        </p:blipFill>
        <p:spPr>
          <a:xfrm>
            <a:off x="5096936" y="2643000"/>
            <a:ext cx="4047064" cy="2500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Questions?</a:t>
            </a:r>
            <a:endParaRPr/>
          </a:p>
        </p:txBody>
      </p:sp>
      <p:sp>
        <p:nvSpPr>
          <p:cNvPr id="201" name="Google Shape;201;p2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